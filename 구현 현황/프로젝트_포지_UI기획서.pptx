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8" r:id="rId2"/>
    <p:sldId id="276" r:id="rId3"/>
    <p:sldId id="274" r:id="rId4"/>
    <p:sldId id="275" r:id="rId5"/>
    <p:sldId id="278" r:id="rId6"/>
    <p:sldId id="277" r:id="rId7"/>
    <p:sldId id="269" r:id="rId8"/>
    <p:sldId id="267" r:id="rId9"/>
    <p:sldId id="270" r:id="rId10"/>
    <p:sldId id="256" r:id="rId11"/>
    <p:sldId id="271" r:id="rId12"/>
    <p:sldId id="266" r:id="rId13"/>
    <p:sldId id="272" r:id="rId14"/>
    <p:sldId id="262" r:id="rId15"/>
    <p:sldId id="273" r:id="rId16"/>
    <p:sldId id="26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379"/>
    <a:srgbClr val="7C46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2849" autoAdjust="0"/>
  </p:normalViewPr>
  <p:slideViewPr>
    <p:cSldViewPr snapToGrid="0">
      <p:cViewPr varScale="1">
        <p:scale>
          <a:sx n="78" d="100"/>
          <a:sy n="78" d="100"/>
        </p:scale>
        <p:origin x="77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7BD0E-9E9F-4A57-8BC8-97307F576499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6908C-7ED2-4B77-AE00-4C27577967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486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의뢰를 수행하면서 해당 화면에서 강화 횟수를 정하고 해당 버튼을 클릭한다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대장간 화면에서 정해진 버튼을 누르게 단계를 다시 짠다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단계를 제거하고 목표 강화 값 만큼 버튼을 누르면 자동으로 </a:t>
            </a:r>
            <a:r>
              <a:rPr lang="ko-KR" altLang="en-US" dirty="0" err="1"/>
              <a:t>누른것으로</a:t>
            </a:r>
            <a:r>
              <a:rPr lang="ko-KR" altLang="en-US" dirty="0"/>
              <a:t>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6908C-7ED2-4B77-AE00-4C27577967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678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6908C-7ED2-4B77-AE00-4C27577967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8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EE32EB2-90CC-A7F6-D2E6-10E60035A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6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3D35F44-FCFE-D7F8-12B8-1F3E553E61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6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5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3643EC8-912A-5C18-988B-B690DD9AB0FD}"/>
              </a:ext>
            </a:extLst>
          </p:cNvPr>
          <p:cNvSpPr/>
          <p:nvPr userDrawn="1"/>
        </p:nvSpPr>
        <p:spPr>
          <a:xfrm>
            <a:off x="0" y="0"/>
            <a:ext cx="12192000" cy="629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C0BD960D-0ABF-DC9A-1BEA-0A2C73DFC2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920" y="66551"/>
            <a:ext cx="5261113" cy="49681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403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69D6BB-5F86-F164-74E8-ED3CBFB69129}"/>
              </a:ext>
            </a:extLst>
          </p:cNvPr>
          <p:cNvSpPr/>
          <p:nvPr userDrawn="1"/>
        </p:nvSpPr>
        <p:spPr>
          <a:xfrm>
            <a:off x="0" y="0"/>
            <a:ext cx="12192000" cy="629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EC36AF28-A227-BBA6-8AF9-3B0338C928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" y="66551"/>
            <a:ext cx="5261113" cy="49681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4C4F38-DC1E-36D9-D88C-1C6C774E49C2}"/>
              </a:ext>
            </a:extLst>
          </p:cNvPr>
          <p:cNvSpPr/>
          <p:nvPr userDrawn="1"/>
        </p:nvSpPr>
        <p:spPr>
          <a:xfrm>
            <a:off x="6830170" y="629920"/>
            <a:ext cx="5361830" cy="6228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9B8AAD-0777-1F33-58A1-E99A76C3F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238" y="731838"/>
            <a:ext cx="1666875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sz="16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소제목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819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C9DBD-B962-4639-8918-CBA477D5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C318C8-181A-4E81-A5DE-E1E55C483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C733DB-455D-46AF-92B1-8DF68A73F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AF0D03-6840-4508-A287-2A3F2AB72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676712-8DCB-456B-9ADF-D96A40A61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4769FD-1CC3-4182-B806-C4C1D43E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A99A7F-4C3E-4385-9DEA-850CF546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ADD93A-FBEC-4E4C-907D-B5402CFC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74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ED56C-FAA1-43E0-8217-1954B89D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099106-498D-4608-99B6-FBA1DE78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0BD608-A456-490A-B0E4-149CDFFA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A2DEA2-C237-4C5F-A371-3D488B9D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5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674D9B-811F-4895-B035-3545FE6A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C3E209-60B4-4718-97E0-A65573F7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8130F-9B9B-4191-A463-9AB7545D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9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9AB73-BA05-4E6C-879F-D798BA63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6E361-54C3-475B-AF3B-6A1C8942C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AEEABC-041F-46FA-A710-93BE9BAE9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381D6-01E9-44AE-AC27-BD266C2E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DBD665-881A-44ED-BC0C-45A7109A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25E021-83FD-4707-BFE8-63DF252C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9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F035E-59BB-4FFF-BB7C-B368BEA3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0D11A4-7C39-4333-94DC-504C50398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BEDAFC-039C-4D0B-BB84-8A1E8546A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A46733-9043-4650-B5A0-BF258070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8C42E1-9306-4502-A07B-163CE49B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106D4-B091-4832-9D34-7A8813BD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9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31322-71E3-4D86-A221-F5F37910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627F3D-FA27-4D44-9142-C5964EEFB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2AC89-89A2-46BF-993A-F8C8F35E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6D3AF-7618-4A0F-A541-DAF4A4E4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E1EB78-AAA0-4B70-BA7D-851BCF99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81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8A3D93-84AB-4025-85B9-EDB3FC15C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1B4515-8D0C-4972-84E4-2CC0B2AF6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B3253-7B39-419A-9BFF-B8EBEDC9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FCFF0-4AF4-4C96-92B7-B93D34AE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FE7E25-F1EE-440D-B29E-4D54A615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53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C89A72-F1F0-4992-A464-0D0BD876C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070837-5AE3-4929-B1E5-F62470C0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45C32-5A77-4E30-84AA-2B07333EE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AF3B4-24BD-491C-AC9D-EFF6E0D0DD8F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4C405-CF7C-4984-A896-C9023C515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BEA89-32F6-425B-B8AC-61A9E3F74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73B0A-0D55-4B88-8074-1C64BB3451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49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2.wdp"/><Relationship Id="rId10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microsoft.com/office/2007/relationships/hdphoto" Target="../media/hdphoto2.wdp"/><Relationship Id="rId4" Type="http://schemas.openxmlformats.org/officeDocument/2006/relationships/image" Target="../media/image18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70FA1C4-C7F6-2B57-A20E-1D38F22A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78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DF4B2A-9C7D-DB9C-714F-93AA26A39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05" y="282379"/>
            <a:ext cx="2874628" cy="221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2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9A52CEB-C796-6A89-4DD8-4AD7BAC90D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6778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FA4BF78-1128-9D77-4EC9-346E46C7B8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7805" y="282379"/>
            <a:ext cx="2874628" cy="2216194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C4CFB9C-C8DA-F582-1434-CBB54696475A}"/>
              </a:ext>
            </a:extLst>
          </p:cNvPr>
          <p:cNvSpPr/>
          <p:nvPr/>
        </p:nvSpPr>
        <p:spPr>
          <a:xfrm>
            <a:off x="6630099" y="796954"/>
            <a:ext cx="4644705" cy="5201174"/>
          </a:xfrm>
          <a:prstGeom prst="roundRect">
            <a:avLst>
              <a:gd name="adj" fmla="val 5288"/>
            </a:avLst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2000" indent="-2520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플로우 차트</a:t>
            </a:r>
            <a:endParaRPr lang="en-US" altLang="ko-KR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52000" indent="-252000">
              <a:buFont typeface="+mj-lt"/>
              <a:buAutoNum type="arabicPeriod"/>
            </a:pPr>
            <a:endParaRPr lang="en-US" altLang="ko-KR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52000" indent="-2520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카운터 화면</a:t>
            </a:r>
            <a:endParaRPr lang="en-US" altLang="ko-KR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NPC 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등장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의뢰 수행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의뢰 완료 처리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NPC 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퇴장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252000" indent="-2520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강화 화면</a:t>
            </a:r>
            <a:endParaRPr lang="en-US" altLang="ko-KR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강화 진행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미니게임 추가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강화 마무리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252000" indent="-2520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대장간 화면</a:t>
            </a:r>
            <a:endParaRPr lang="en-US" altLang="ko-KR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감정표현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612000" lvl="1" indent="-252000">
              <a:buFont typeface="+mj-lt"/>
              <a:buAutoNum type="arabicParenR"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일일 정산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0B605-E688-D748-C717-3E8365AD523C}"/>
              </a:ext>
            </a:extLst>
          </p:cNvPr>
          <p:cNvSpPr txBox="1"/>
          <p:nvPr/>
        </p:nvSpPr>
        <p:spPr>
          <a:xfrm>
            <a:off x="8422497" y="859872"/>
            <a:ext cx="105990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79404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C70F6F-E260-F50A-F66A-35A5B8C44B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플로우 차트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7D998CF-0AAF-E568-49A0-6C352D3CA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3" y="664366"/>
            <a:ext cx="5075339" cy="619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D3783E6-F8D5-18C7-350C-FE4871478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819870"/>
              </p:ext>
            </p:extLst>
          </p:nvPr>
        </p:nvGraphicFramePr>
        <p:xfrm>
          <a:off x="5478011" y="793921"/>
          <a:ext cx="6543412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679">
                  <a:extLst>
                    <a:ext uri="{9D8B030D-6E8A-4147-A177-3AD203B41FA5}">
                      <a16:colId xmlns:a16="http://schemas.microsoft.com/office/drawing/2014/main" val="3576548937"/>
                    </a:ext>
                  </a:extLst>
                </a:gridCol>
                <a:gridCol w="5536733">
                  <a:extLst>
                    <a:ext uri="{9D8B030D-6E8A-4147-A177-3AD203B41FA5}">
                      <a16:colId xmlns:a16="http://schemas.microsoft.com/office/drawing/2014/main" val="2728309432"/>
                    </a:ext>
                  </a:extLst>
                </a:gridCol>
              </a:tblGrid>
              <a:tr h="2234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나눔스퀘어 네오 ExtraBold" panose="00000900000000000000" pitchFamily="2" charset="-127"/>
                          <a:ea typeface="나눔스퀘어 네오 ExtraBold" panose="00000900000000000000" pitchFamily="2" charset="-127"/>
                        </a:rPr>
                        <a:t>설명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41838"/>
                  </a:ext>
                </a:extLst>
              </a:tr>
              <a:tr h="2048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프리셋에서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랜덤한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추출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768481"/>
                  </a:ext>
                </a:extLst>
              </a:tr>
              <a:tr h="2048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입장 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등장 연출 어떤 것으로 할지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통해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입장 알림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91712"/>
                  </a:ext>
                </a:extLst>
              </a:tr>
              <a:tr h="2048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3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우측에서 등장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332"/>
                  </a:ext>
                </a:extLst>
              </a:tr>
              <a:tr h="316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4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 의뢰에 대한 대화를 진행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유저는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&lt;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진행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버튼을 눌러 강화 화면으로 이동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495705"/>
                  </a:ext>
                </a:extLst>
              </a:tr>
              <a:tr h="316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5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진행되는 강화가 진행되고 있다는 연출 표현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연출이 끝나면 강화 결과 출력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891639"/>
                  </a:ext>
                </a:extLst>
              </a:tr>
              <a:tr h="316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6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강화 연출처럼 진행하지만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별개로 강화에 대한 추가 확률을 제공하는 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미니게임 연출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55916"/>
                  </a:ext>
                </a:extLst>
              </a:tr>
              <a:tr h="316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7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미니게임을 마치고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강화가 마무리되면 기본 확률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+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미니게임 추가 확률 합산해서 강화 결과 계산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558822"/>
                  </a:ext>
                </a:extLst>
              </a:tr>
              <a:tr h="316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8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강화의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대성공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실패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결과에 따라 대장장이의 표정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대사 변화로 대장장이의 감정표현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.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강화 결과 창 출력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082769"/>
                  </a:ext>
                </a:extLst>
              </a:tr>
              <a:tr h="4468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9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의뢰 결과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에게 전달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강화 결과 창 출력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강화의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대성공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실패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결과에 따라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표정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대사 변화로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감정표현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836348"/>
                  </a:ext>
                </a:extLst>
              </a:tr>
              <a:tr h="2048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번의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표정 유지한 채로 등장 했던 방향으로 퇴장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51326"/>
                  </a:ext>
                </a:extLst>
              </a:tr>
              <a:tr h="2048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일일 방문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+ 1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155781"/>
                  </a:ext>
                </a:extLst>
              </a:tr>
              <a:tr h="316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대장간 화면에서 대장장이의 일일 마무리 멘트 후 정산 창 출력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&lt;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확인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버튼으로 다음 날로 진행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69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48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BDBFE-3018-F31F-66EF-B800C71D0D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카운터 화면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FC9B2E-E56B-B10D-DDDE-5DC629105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NPC </a:t>
            </a:r>
            <a:r>
              <a:rPr lang="ko-KR" altLang="en-US" dirty="0"/>
              <a:t>등장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9D0FCB-8263-825D-CE1E-0F7AD4256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1170723"/>
            <a:ext cx="6386721" cy="35937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C6C0F7-2A51-0CAB-A539-9630E37CE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263" b="6789"/>
          <a:stretch>
            <a:fillRect/>
          </a:stretch>
        </p:blipFill>
        <p:spPr>
          <a:xfrm>
            <a:off x="121920" y="3657600"/>
            <a:ext cx="6386721" cy="11068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4214F4-B1B1-5530-6735-7FC9EB11E3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9" r="11009" b="36269"/>
          <a:stretch>
            <a:fillRect/>
          </a:stretch>
        </p:blipFill>
        <p:spPr>
          <a:xfrm>
            <a:off x="121920" y="2364613"/>
            <a:ext cx="1957663" cy="2399863"/>
          </a:xfrm>
          <a:prstGeom prst="rect">
            <a:avLst/>
          </a:prstGeom>
        </p:spPr>
      </p:pic>
      <p:pic>
        <p:nvPicPr>
          <p:cNvPr id="1028" name="Picture 4" descr="การออกแบบเวกเตอร์สัญลักษณ์ไอคอนคลิปอาร์ตปฏิทิน | เวกเตอร์ Premium  ที่สร้างด้วย AI">
            <a:extLst>
              <a:ext uri="{FF2B5EF4-FFF2-40B4-BE49-F238E27FC236}">
                <a16:creationId xmlns:a16="http://schemas.microsoft.com/office/drawing/2014/main" id="{69296BCC-98CB-E463-9BB3-876D80D97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0" b="100000" l="0" r="99042">
                        <a14:foregroundMark x1="39936" y1="47125" x2="66773" y2="47444"/>
                        <a14:foregroundMark x1="67412" y1="47604" x2="67732" y2="69010"/>
                        <a14:foregroundMark x1="67093" y1="70128" x2="32109" y2="69968"/>
                        <a14:foregroundMark x1="32109" y1="69968" x2="31789" y2="47284"/>
                        <a14:foregroundMark x1="32109" y1="47284" x2="40575" y2="47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49" t="20365" r="20849" b="20365"/>
          <a:stretch>
            <a:fillRect/>
          </a:stretch>
        </p:blipFill>
        <p:spPr bwMode="auto">
          <a:xfrm>
            <a:off x="203014" y="1265433"/>
            <a:ext cx="293082" cy="29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9EA29BF-EE7A-C5B3-D1EB-4CA1E445FF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6" t="17455" r="5584" b="13427"/>
          <a:stretch>
            <a:fillRect/>
          </a:stretch>
        </p:blipFill>
        <p:spPr>
          <a:xfrm>
            <a:off x="577190" y="1288571"/>
            <a:ext cx="810938" cy="2516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658460-395E-F5B6-48FD-C5732E2BED0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463" t="6970" r="20341" b="64940"/>
          <a:stretch>
            <a:fillRect/>
          </a:stretch>
        </p:blipFill>
        <p:spPr>
          <a:xfrm>
            <a:off x="162914" y="1636824"/>
            <a:ext cx="373282" cy="3271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164667-F320-C9C8-253A-0A2BFDA4BE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6" t="17455" r="5584" b="13427"/>
          <a:stretch>
            <a:fillRect/>
          </a:stretch>
        </p:blipFill>
        <p:spPr>
          <a:xfrm>
            <a:off x="577190" y="1669665"/>
            <a:ext cx="810938" cy="25167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E354C96-31E9-DE3E-CE73-E14383FB6AA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7500" t="6822" r="20015" b="70313"/>
          <a:stretch>
            <a:fillRect/>
          </a:stretch>
        </p:blipFill>
        <p:spPr>
          <a:xfrm>
            <a:off x="5115445" y="1570538"/>
            <a:ext cx="1295515" cy="2858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FA28BE1-AFA0-B5C9-DDCF-39FAB4CD305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6967" t="33157" r="20237" b="43978"/>
          <a:stretch>
            <a:fillRect/>
          </a:stretch>
        </p:blipFill>
        <p:spPr>
          <a:xfrm>
            <a:off x="5103049" y="1253074"/>
            <a:ext cx="1307911" cy="285817"/>
          </a:xfrm>
          <a:prstGeom prst="rect">
            <a:avLst/>
          </a:prstGeom>
        </p:spPr>
      </p:pic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0B50237-54FC-770A-B6CB-714EC70D9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691714"/>
              </p:ext>
            </p:extLst>
          </p:nvPr>
        </p:nvGraphicFramePr>
        <p:xfrm>
          <a:off x="6971240" y="745831"/>
          <a:ext cx="5098522" cy="348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2557">
                  <a:extLst>
                    <a:ext uri="{9D8B030D-6E8A-4147-A177-3AD203B41FA5}">
                      <a16:colId xmlns:a16="http://schemas.microsoft.com/office/drawing/2014/main" val="3172228245"/>
                    </a:ext>
                  </a:extLst>
                </a:gridCol>
                <a:gridCol w="841210">
                  <a:extLst>
                    <a:ext uri="{9D8B030D-6E8A-4147-A177-3AD203B41FA5}">
                      <a16:colId xmlns:a16="http://schemas.microsoft.com/office/drawing/2014/main" val="3604935671"/>
                    </a:ext>
                  </a:extLst>
                </a:gridCol>
                <a:gridCol w="3514755">
                  <a:extLst>
                    <a:ext uri="{9D8B030D-6E8A-4147-A177-3AD203B41FA5}">
                      <a16:colId xmlns:a16="http://schemas.microsoft.com/office/drawing/2014/main" val="233577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번호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설명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39680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유저의 진행도를 알려주는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UI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128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리소스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달력 아이콘 이미지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캐릭터 아이콘 이미지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텍스트 박스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B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910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작동 방식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달력 텍스트 박스 디폴트 값은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‘0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일차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로 설정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캐릭터 텍스트 박스 디폴트 값은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‘0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으로 설정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89804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나눔스퀘어 네오 Regular" panose="00000500000000000000" pitchFamily="2" charset="-127"/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유저의 재화 보유량을 알려주는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UI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6188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리소스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금화 아이콘 이미지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별 아이콘 이미지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텍스트 박스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5760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작동 방식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텍스트 박스 모두 디폴트 값은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‘0’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으로 설정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재화 단위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‘1,000’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기준으로 끊어서 표기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텍스트 박스 표기 최대 수치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‘9,999,999’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로 설정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700229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FD1E38-11B3-5519-E1EC-3D73F03AC786}"/>
              </a:ext>
            </a:extLst>
          </p:cNvPr>
          <p:cNvSpPr/>
          <p:nvPr/>
        </p:nvSpPr>
        <p:spPr>
          <a:xfrm>
            <a:off x="162913" y="1197002"/>
            <a:ext cx="1265455" cy="7669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CA4EDAF-4745-892D-CCB2-EA9198ECFEE8}"/>
              </a:ext>
            </a:extLst>
          </p:cNvPr>
          <p:cNvSpPr/>
          <p:nvPr/>
        </p:nvSpPr>
        <p:spPr>
          <a:xfrm>
            <a:off x="28773" y="1057863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endParaRPr lang="ko-KR" altLang="en-US" sz="1400" dirty="0">
              <a:solidFill>
                <a:sysClr val="windowText" lastClr="000000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991A13-447B-F299-BF9D-8244114D246D}"/>
              </a:ext>
            </a:extLst>
          </p:cNvPr>
          <p:cNvSpPr/>
          <p:nvPr/>
        </p:nvSpPr>
        <p:spPr>
          <a:xfrm>
            <a:off x="5115445" y="1222908"/>
            <a:ext cx="1344355" cy="6984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8082F30-C6D3-20A5-4B8A-FB1F583D3758}"/>
              </a:ext>
            </a:extLst>
          </p:cNvPr>
          <p:cNvSpPr/>
          <p:nvPr/>
        </p:nvSpPr>
        <p:spPr>
          <a:xfrm>
            <a:off x="4968506" y="1082163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</a:t>
            </a:r>
            <a:endParaRPr lang="ko-KR" altLang="en-US" sz="1400" dirty="0">
              <a:solidFill>
                <a:sysClr val="windowText" lastClr="000000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60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476E-D3EC-DC3A-C181-FEF26DE2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FC9D2F-FA59-AB40-66F1-8B9C81083D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카운터 화면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EED8F2-D29A-E312-8FAA-4836AD2CDE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NPC </a:t>
            </a:r>
            <a:r>
              <a:rPr lang="ko-KR" altLang="en-US" dirty="0"/>
              <a:t>등장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2A167B-9E3B-8621-E8C5-721E02723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1170723"/>
            <a:ext cx="6386721" cy="35937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E9D618-8740-D375-0A87-596330FA6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263" b="6789"/>
          <a:stretch>
            <a:fillRect/>
          </a:stretch>
        </p:blipFill>
        <p:spPr>
          <a:xfrm>
            <a:off x="121920" y="3657600"/>
            <a:ext cx="6386721" cy="11068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DE07BD1-7C5F-3FCA-94A4-E70AA2E39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9" r="11009" b="36269"/>
          <a:stretch>
            <a:fillRect/>
          </a:stretch>
        </p:blipFill>
        <p:spPr>
          <a:xfrm>
            <a:off x="121920" y="2364613"/>
            <a:ext cx="1957663" cy="2399863"/>
          </a:xfrm>
          <a:prstGeom prst="rect">
            <a:avLst/>
          </a:prstGeom>
        </p:spPr>
      </p:pic>
      <p:pic>
        <p:nvPicPr>
          <p:cNvPr id="1028" name="Picture 4" descr="การออกแบบเวกเตอร์สัญลักษณ์ไอคอนคลิปอาร์ตปฏิทิน | เวกเตอร์ Premium  ที่สร้างด้วย AI">
            <a:extLst>
              <a:ext uri="{FF2B5EF4-FFF2-40B4-BE49-F238E27FC236}">
                <a16:creationId xmlns:a16="http://schemas.microsoft.com/office/drawing/2014/main" id="{53519630-92E0-9F37-F8DA-DA63B6D076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0" b="100000" l="0" r="99042">
                        <a14:foregroundMark x1="39936" y1="47125" x2="66773" y2="47444"/>
                        <a14:foregroundMark x1="67412" y1="47604" x2="67732" y2="69010"/>
                        <a14:foregroundMark x1="67093" y1="70128" x2="32109" y2="69968"/>
                        <a14:foregroundMark x1="32109" y1="69968" x2="31789" y2="47284"/>
                        <a14:foregroundMark x1="32109" y1="47284" x2="40575" y2="47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49" t="20365" r="20849" b="20365"/>
          <a:stretch>
            <a:fillRect/>
          </a:stretch>
        </p:blipFill>
        <p:spPr bwMode="auto">
          <a:xfrm>
            <a:off x="203014" y="1265433"/>
            <a:ext cx="293082" cy="29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E10A43-1984-692A-6B5F-54C01C7D70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6" t="17455" r="5584" b="13427"/>
          <a:stretch>
            <a:fillRect/>
          </a:stretch>
        </p:blipFill>
        <p:spPr>
          <a:xfrm>
            <a:off x="577190" y="1288571"/>
            <a:ext cx="810938" cy="2516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202F8A-56BA-27C2-F938-27A635F09CE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5463" t="6970" r="20341" b="64940"/>
          <a:stretch>
            <a:fillRect/>
          </a:stretch>
        </p:blipFill>
        <p:spPr>
          <a:xfrm>
            <a:off x="162914" y="1636824"/>
            <a:ext cx="373282" cy="3271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5035C23-3751-40CC-9871-612E037901C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6" t="17455" r="5584" b="13427"/>
          <a:stretch>
            <a:fillRect/>
          </a:stretch>
        </p:blipFill>
        <p:spPr>
          <a:xfrm>
            <a:off x="577190" y="1669665"/>
            <a:ext cx="810938" cy="25167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E078E6-76FA-F82C-BDA6-C428539345F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7500" t="6822" r="20015" b="70313"/>
          <a:stretch>
            <a:fillRect/>
          </a:stretch>
        </p:blipFill>
        <p:spPr>
          <a:xfrm>
            <a:off x="5115445" y="1570538"/>
            <a:ext cx="1295515" cy="2858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BB74C7-406A-C741-BB0E-D13641F8A7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6967" t="33157" r="20237" b="43978"/>
          <a:stretch>
            <a:fillRect/>
          </a:stretch>
        </p:blipFill>
        <p:spPr>
          <a:xfrm>
            <a:off x="5103049" y="1253074"/>
            <a:ext cx="1307911" cy="285817"/>
          </a:xfrm>
          <a:prstGeom prst="rect">
            <a:avLst/>
          </a:prstGeom>
        </p:spPr>
      </p:pic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0047081-E538-254F-6D34-5C577590E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424289"/>
              </p:ext>
            </p:extLst>
          </p:nvPr>
        </p:nvGraphicFramePr>
        <p:xfrm>
          <a:off x="6971240" y="745831"/>
          <a:ext cx="5098522" cy="1656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2557">
                  <a:extLst>
                    <a:ext uri="{9D8B030D-6E8A-4147-A177-3AD203B41FA5}">
                      <a16:colId xmlns:a16="http://schemas.microsoft.com/office/drawing/2014/main" val="3172228245"/>
                    </a:ext>
                  </a:extLst>
                </a:gridCol>
                <a:gridCol w="841210">
                  <a:extLst>
                    <a:ext uri="{9D8B030D-6E8A-4147-A177-3AD203B41FA5}">
                      <a16:colId xmlns:a16="http://schemas.microsoft.com/office/drawing/2014/main" val="3604935671"/>
                    </a:ext>
                  </a:extLst>
                </a:gridCol>
                <a:gridCol w="3514755">
                  <a:extLst>
                    <a:ext uri="{9D8B030D-6E8A-4147-A177-3AD203B41FA5}">
                      <a16:colId xmlns:a16="http://schemas.microsoft.com/office/drawing/2014/main" val="233577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번호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설명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39680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NPC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등장을 알려주는 팝업 창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128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리소스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텍스트 박스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B</a:t>
                      </a:r>
                    </a:p>
                    <a:p>
                      <a:pPr marL="180000" indent="-180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알림 사운드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910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작동 방식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팝업 창 등장과 같이 알림 사운드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출력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80000" indent="-180000" latinLnBrk="1">
                        <a:buFont typeface="나눔스퀘어 네오 Regular" panose="00000500000000000000" pitchFamily="2" charset="-127"/>
                        <a:buChar char="－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알림 창은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초 후 비활성 처리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89804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BB98B1D-F621-69A2-8CC3-CC1C65AC6A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6" t="17455" r="5584" b="13427"/>
          <a:stretch>
            <a:fillRect/>
          </a:stretch>
        </p:blipFill>
        <p:spPr>
          <a:xfrm>
            <a:off x="1983402" y="1633889"/>
            <a:ext cx="2663755" cy="5090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38FD86-E153-552E-E9EF-66492A1174CE}"/>
              </a:ext>
            </a:extLst>
          </p:cNvPr>
          <p:cNvSpPr txBox="1"/>
          <p:nvPr/>
        </p:nvSpPr>
        <p:spPr>
          <a:xfrm>
            <a:off x="2413429" y="1702466"/>
            <a:ext cx="180369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누군가 방문했습니다</a:t>
            </a:r>
            <a:r>
              <a:rPr lang="en-US" altLang="ko-KR" sz="14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6AD0F4-1B0E-0046-2CDE-6CBB80917E8B}"/>
              </a:ext>
            </a:extLst>
          </p:cNvPr>
          <p:cNvSpPr/>
          <p:nvPr/>
        </p:nvSpPr>
        <p:spPr>
          <a:xfrm>
            <a:off x="1917285" y="1588871"/>
            <a:ext cx="2805717" cy="5845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9D84D90-C214-07D5-6925-2820325D0FA2}"/>
              </a:ext>
            </a:extLst>
          </p:cNvPr>
          <p:cNvSpPr/>
          <p:nvPr/>
        </p:nvSpPr>
        <p:spPr>
          <a:xfrm>
            <a:off x="1778735" y="1417665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endParaRPr lang="ko-KR" altLang="en-US" sz="1400" dirty="0">
              <a:solidFill>
                <a:sysClr val="windowText" lastClr="000000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87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413F-0E22-5651-2CE0-FDD33345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520337-669F-6F80-92A2-26C1272687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카운터 화면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29291D-AB06-FCAE-F78B-8AE1DD0E9C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NPC </a:t>
            </a:r>
            <a:r>
              <a:rPr lang="ko-KR" altLang="en-US" dirty="0"/>
              <a:t>등장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040EE0-F83B-91B9-828C-2C71A2CC1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1170723"/>
            <a:ext cx="6386721" cy="35937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B89DF2-DF15-DA2E-FE32-1610D8BC2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263" b="6789"/>
          <a:stretch>
            <a:fillRect/>
          </a:stretch>
        </p:blipFill>
        <p:spPr>
          <a:xfrm>
            <a:off x="121920" y="3657600"/>
            <a:ext cx="6386721" cy="11068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473B71-2880-8BF2-C816-CD497C2CE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9" r="11009" b="36269"/>
          <a:stretch>
            <a:fillRect/>
          </a:stretch>
        </p:blipFill>
        <p:spPr>
          <a:xfrm>
            <a:off x="121920" y="2364613"/>
            <a:ext cx="1957663" cy="23998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68F1BC-9A25-2712-12C1-DFE801ED4C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33" t="2807" r="4979" b="49869"/>
          <a:stretch>
            <a:fillRect/>
          </a:stretch>
        </p:blipFill>
        <p:spPr>
          <a:xfrm>
            <a:off x="4322211" y="2306972"/>
            <a:ext cx="2319074" cy="1730375"/>
          </a:xfrm>
          <a:prstGeom prst="rect">
            <a:avLst/>
          </a:prstGeom>
        </p:spPr>
      </p:pic>
      <p:pic>
        <p:nvPicPr>
          <p:cNvPr id="1028" name="Picture 4" descr="การออกแบบเวกเตอร์สัญลักษณ์ไอคอนคลิปอาร์ตปฏิทิน | เวกเตอร์ Premium  ที่สร้างด้วย AI">
            <a:extLst>
              <a:ext uri="{FF2B5EF4-FFF2-40B4-BE49-F238E27FC236}">
                <a16:creationId xmlns:a16="http://schemas.microsoft.com/office/drawing/2014/main" id="{A862D136-1CB9-6789-734B-47E265C8DD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60" b="100000" l="0" r="99042">
                        <a14:foregroundMark x1="39936" y1="47125" x2="66773" y2="47444"/>
                        <a14:foregroundMark x1="67412" y1="47604" x2="67732" y2="69010"/>
                        <a14:foregroundMark x1="67093" y1="70128" x2="32109" y2="69968"/>
                        <a14:foregroundMark x1="32109" y1="69968" x2="31789" y2="47284"/>
                        <a14:foregroundMark x1="32109" y1="47284" x2="40575" y2="47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49" t="20365" r="20849" b="20365"/>
          <a:stretch>
            <a:fillRect/>
          </a:stretch>
        </p:blipFill>
        <p:spPr bwMode="auto">
          <a:xfrm>
            <a:off x="203014" y="1265433"/>
            <a:ext cx="293082" cy="29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8260E79-70D2-6852-0B7D-58E82F19559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586" t="17455" r="5584" b="13427"/>
          <a:stretch>
            <a:fillRect/>
          </a:stretch>
        </p:blipFill>
        <p:spPr>
          <a:xfrm>
            <a:off x="577190" y="1288571"/>
            <a:ext cx="810938" cy="2516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F4EFEE-1991-25C9-C831-1B93DA0358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63" t="6970" r="20341" b="64940"/>
          <a:stretch>
            <a:fillRect/>
          </a:stretch>
        </p:blipFill>
        <p:spPr>
          <a:xfrm>
            <a:off x="162914" y="1636824"/>
            <a:ext cx="373282" cy="3271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FB11E1-56D7-8DB1-C67E-99834B4125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586" t="17455" r="5584" b="13427"/>
          <a:stretch>
            <a:fillRect/>
          </a:stretch>
        </p:blipFill>
        <p:spPr>
          <a:xfrm>
            <a:off x="577190" y="1669665"/>
            <a:ext cx="810938" cy="25167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CAAB32F-3BBA-EE63-6FB3-7A47DFF2C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7500" t="6822" r="20015" b="70313"/>
          <a:stretch>
            <a:fillRect/>
          </a:stretch>
        </p:blipFill>
        <p:spPr>
          <a:xfrm>
            <a:off x="5115445" y="1570538"/>
            <a:ext cx="1295515" cy="2858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19CCB5D-92AE-BB5F-AA1E-761162C1D46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6967" t="33157" r="20237" b="43978"/>
          <a:stretch>
            <a:fillRect/>
          </a:stretch>
        </p:blipFill>
        <p:spPr>
          <a:xfrm>
            <a:off x="5103049" y="1253074"/>
            <a:ext cx="1307911" cy="28581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D8917B-0BF0-D098-5E13-2236AA4947FC}"/>
              </a:ext>
            </a:extLst>
          </p:cNvPr>
          <p:cNvSpPr/>
          <p:nvPr/>
        </p:nvSpPr>
        <p:spPr>
          <a:xfrm>
            <a:off x="4427871" y="2286861"/>
            <a:ext cx="2016645" cy="17504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52FDC3A-7EBC-715A-DC66-8B700A1C42B3}"/>
              </a:ext>
            </a:extLst>
          </p:cNvPr>
          <p:cNvSpPr/>
          <p:nvPr/>
        </p:nvSpPr>
        <p:spPr>
          <a:xfrm>
            <a:off x="4283871" y="2162972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</a:t>
            </a:r>
            <a:endParaRPr lang="ko-KR" altLang="en-US" sz="1400" dirty="0">
              <a:solidFill>
                <a:sysClr val="windowText" lastClr="000000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65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966F-5B04-1901-E14E-4E303769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1FFCCF9-02A2-C31A-3447-18E3BB88F9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B3D936-0363-42C0-587B-CA44B836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889"/>
          <a:stretch>
            <a:fillRect/>
          </a:stretch>
        </p:blipFill>
        <p:spPr>
          <a:xfrm flipH="1">
            <a:off x="125315" y="1216660"/>
            <a:ext cx="3375923" cy="3439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DCD81F-2C8D-F276-CA04-F04753B80C27}"/>
              </a:ext>
            </a:extLst>
          </p:cNvPr>
          <p:cNvSpPr txBox="1"/>
          <p:nvPr/>
        </p:nvSpPr>
        <p:spPr>
          <a:xfrm>
            <a:off x="318782" y="180351"/>
            <a:ext cx="19415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 err="1"/>
              <a:t>메인화면</a:t>
            </a:r>
            <a:r>
              <a:rPr lang="en-US" altLang="ko-KR" dirty="0"/>
              <a:t>(</a:t>
            </a:r>
            <a:r>
              <a:rPr lang="ko-KR" altLang="en-US" dirty="0"/>
              <a:t>카운터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A75075-B8D9-7FFB-7DCA-BDBF8B271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631"/>
          <a:stretch>
            <a:fillRect/>
          </a:stretch>
        </p:blipFill>
        <p:spPr>
          <a:xfrm>
            <a:off x="0" y="4003040"/>
            <a:ext cx="12192000" cy="282448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6271B3F-7CE0-3DCE-3CA6-CC3ED459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D183113-4CB4-8012-3D70-F267B831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7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D948E-21F4-41AF-A696-30B9C5B79250}"/>
              </a:ext>
            </a:extLst>
          </p:cNvPr>
          <p:cNvSpPr txBox="1"/>
          <p:nvPr/>
        </p:nvSpPr>
        <p:spPr>
          <a:xfrm>
            <a:off x="318782" y="180351"/>
            <a:ext cx="171072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메인화면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시작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488052-E1C5-DA98-7F01-78A4276A3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31"/>
          <a:stretch>
            <a:fillRect/>
          </a:stretch>
        </p:blipFill>
        <p:spPr>
          <a:xfrm>
            <a:off x="0" y="4003040"/>
            <a:ext cx="12192000" cy="28244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56B48A-8A2D-0A85-DFD6-B367162C2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0BEFBA5-57BC-E7C5-4CA0-17FD66B4E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948" y="5980682"/>
            <a:ext cx="1267578" cy="4653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03C425A-BBBB-4707-E029-B8DD41E6A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D854DC-211F-7C84-F26F-F2966CC235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2C39D76-FC79-495B-B402-A842F4DD94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8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AC05-FD2E-F9A7-374B-E4E59539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16AFE24-6E3B-E289-D2D5-D8024A793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889"/>
          <a:stretch>
            <a:fillRect/>
          </a:stretch>
        </p:blipFill>
        <p:spPr>
          <a:xfrm flipH="1">
            <a:off x="125315" y="1216660"/>
            <a:ext cx="3375923" cy="3439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F8FAFF-8D9E-EA69-E37B-861DE79F7344}"/>
              </a:ext>
            </a:extLst>
          </p:cNvPr>
          <p:cNvSpPr txBox="1"/>
          <p:nvPr/>
        </p:nvSpPr>
        <p:spPr>
          <a:xfrm>
            <a:off x="217182" y="180351"/>
            <a:ext cx="24421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 err="1"/>
              <a:t>메인화면</a:t>
            </a:r>
            <a:r>
              <a:rPr lang="en-US" altLang="ko-KR" dirty="0"/>
              <a:t>(NPC </a:t>
            </a:r>
            <a:r>
              <a:rPr lang="ko-KR" altLang="en-US" dirty="0"/>
              <a:t>첫 방문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875C14-08CE-64D8-C67E-D30FAEB466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631"/>
          <a:stretch>
            <a:fillRect/>
          </a:stretch>
        </p:blipFill>
        <p:spPr>
          <a:xfrm>
            <a:off x="0" y="4003040"/>
            <a:ext cx="12192000" cy="28244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8B64F40-2AC7-388C-6D50-9F7A31750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3EFDEE-2840-EB71-5007-103276A6F9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6EB11F3-E90E-030A-E3FC-239B128735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9F6573-811A-1B67-F16B-92F4EEFDF6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0884"/>
          <a:stretch>
            <a:fillRect/>
          </a:stretch>
        </p:blipFill>
        <p:spPr>
          <a:xfrm>
            <a:off x="8136502" y="909320"/>
            <a:ext cx="4180813" cy="40541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58B9BA-F02E-E962-2E84-3238834E77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E0AC2DB-CC99-BCDA-44B5-8CA5A91A2F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5948" y="5980682"/>
            <a:ext cx="1267578" cy="4653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6565D43-D451-5895-10BC-D8599C49CC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4259" y="787319"/>
            <a:ext cx="4823482" cy="3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7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88AA21A-1F01-C139-902E-7B72FD35D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889"/>
          <a:stretch>
            <a:fillRect/>
          </a:stretch>
        </p:blipFill>
        <p:spPr>
          <a:xfrm flipH="1">
            <a:off x="125315" y="1216660"/>
            <a:ext cx="3375923" cy="34395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CB0442-09C8-4EC9-9DEC-C6E213ECD06D}"/>
              </a:ext>
            </a:extLst>
          </p:cNvPr>
          <p:cNvSpPr txBox="1"/>
          <p:nvPr/>
        </p:nvSpPr>
        <p:spPr>
          <a:xfrm>
            <a:off x="217182" y="180351"/>
            <a:ext cx="225414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 err="1"/>
              <a:t>메인화면</a:t>
            </a:r>
            <a:r>
              <a:rPr lang="en-US" altLang="ko-KR" dirty="0"/>
              <a:t>(</a:t>
            </a:r>
            <a:r>
              <a:rPr lang="ko-KR" altLang="en-US" dirty="0"/>
              <a:t>의뢰 요청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46BF870-755A-DC54-CE99-69963291D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631"/>
          <a:stretch>
            <a:fillRect/>
          </a:stretch>
        </p:blipFill>
        <p:spPr>
          <a:xfrm>
            <a:off x="0" y="4003040"/>
            <a:ext cx="12192000" cy="28244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ACF64B-E0F5-7F16-5712-0538092A90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900" b="40884"/>
          <a:stretch>
            <a:fillRect/>
          </a:stretch>
        </p:blipFill>
        <p:spPr>
          <a:xfrm>
            <a:off x="8425099" y="892542"/>
            <a:ext cx="3766901" cy="40541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927D48E-F801-6E98-0736-DA725A227C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851025-5163-6F6A-CF42-818A017E1A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10A2AFFC-8BC6-7B33-F957-F146255CFBA9}"/>
              </a:ext>
            </a:extLst>
          </p:cNvPr>
          <p:cNvSpPr/>
          <p:nvPr/>
        </p:nvSpPr>
        <p:spPr>
          <a:xfrm rot="16200000">
            <a:off x="4368983" y="895938"/>
            <a:ext cx="3902575" cy="3936111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의뢰 내용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B2D9F6-5DA9-3257-A648-C5D6059FB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6481" y="4190848"/>
            <a:ext cx="1267578" cy="46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3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B270-61E5-CFE1-4C17-EA2669A8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8A491CE-357D-A754-40B8-CB5C78BEB641}"/>
              </a:ext>
            </a:extLst>
          </p:cNvPr>
          <p:cNvSpPr txBox="1"/>
          <p:nvPr/>
        </p:nvSpPr>
        <p:spPr>
          <a:xfrm>
            <a:off x="318782" y="180351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작업실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FE830F-9921-3977-92F5-11A6C6FD67AB}"/>
              </a:ext>
            </a:extLst>
          </p:cNvPr>
          <p:cNvSpPr txBox="1"/>
          <p:nvPr/>
        </p:nvSpPr>
        <p:spPr>
          <a:xfrm>
            <a:off x="4998023" y="742521"/>
            <a:ext cx="19191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>
                <a:solidFill>
                  <a:schemeClr val="bg1"/>
                </a:solidFill>
              </a:rPr>
              <a:t>확률</a:t>
            </a:r>
            <a:r>
              <a:rPr lang="en-US" altLang="ko-KR" sz="3000" dirty="0">
                <a:solidFill>
                  <a:schemeClr val="bg1"/>
                </a:solidFill>
              </a:rPr>
              <a:t>: 00%</a:t>
            </a:r>
            <a:endParaRPr lang="ko-KR" altLang="en-US" sz="3000" dirty="0">
              <a:solidFill>
                <a:schemeClr val="bg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8A0A1E-E1B9-B720-8E64-F2352E460082}"/>
              </a:ext>
            </a:extLst>
          </p:cNvPr>
          <p:cNvGrpSpPr/>
          <p:nvPr/>
        </p:nvGrpSpPr>
        <p:grpSpPr>
          <a:xfrm>
            <a:off x="8209317" y="1761796"/>
            <a:ext cx="3502338" cy="3983813"/>
            <a:chOff x="5189280" y="1761796"/>
            <a:chExt cx="3502338" cy="3983813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B1E949D-DD02-14DE-1A1A-EE867BFBC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8976" y="1761796"/>
              <a:ext cx="2272642" cy="3727928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75EE76C-C41D-3C05-E683-C8A9ADB1B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25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89280" y="3472721"/>
              <a:ext cx="2272888" cy="2272888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A1DD2D8-80D3-90AB-7352-8B5A962A3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8266" y="6488668"/>
            <a:ext cx="12422505" cy="36933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5B30214-A840-88A9-6193-F9AA9BBE43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7AC4EE6-7520-121E-9555-9B24F6C2E9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A8AB83-B89B-B21F-C67C-23E3D6D730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9837326" y="3334510"/>
            <a:ext cx="4117990" cy="369332"/>
          </a:xfrm>
          <a:prstGeom prst="rect">
            <a:avLst/>
          </a:prstGeom>
        </p:spPr>
      </p:pic>
      <p:pic>
        <p:nvPicPr>
          <p:cNvPr id="1026" name="Picture 2" descr="VEVOR 주철 모루 55파운드 및 25KG 싱글 호른 모루 8.6 X 4.1인치 조리대 및 안정된 바닥 고경도 견고한 원형 호른 모루  굽힘, 비틀림, 성형용 대장장이-Freehip.co.kr">
            <a:extLst>
              <a:ext uri="{FF2B5EF4-FFF2-40B4-BE49-F238E27FC236}">
                <a16:creationId xmlns:a16="http://schemas.microsoft.com/office/drawing/2014/main" id="{0F789C39-BA9C-8637-2F89-1E995814C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663" y="3028426"/>
            <a:ext cx="2613170" cy="261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529435-A56D-B412-3133-45A04813E66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3343" b="55841"/>
          <a:stretch>
            <a:fillRect/>
          </a:stretch>
        </p:blipFill>
        <p:spPr>
          <a:xfrm>
            <a:off x="5397400" y="2841637"/>
            <a:ext cx="1519738" cy="15682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90BFDC-6293-D67D-34F2-81D47E278E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1090" y="787319"/>
            <a:ext cx="5489820" cy="3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0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C0A03AC-C5E1-4213-BDB7-A1FE2BFF1CA6}"/>
              </a:ext>
            </a:extLst>
          </p:cNvPr>
          <p:cNvSpPr txBox="1"/>
          <p:nvPr/>
        </p:nvSpPr>
        <p:spPr>
          <a:xfrm>
            <a:off x="318782" y="180351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작업실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E4C4B1F-FA67-E102-2A88-4E44798EC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D3CAE5-09FF-7F2E-F1F8-35A6A899E1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2799270-3FC5-C603-7FD2-914001148E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889"/>
          <a:stretch>
            <a:fillRect/>
          </a:stretch>
        </p:blipFill>
        <p:spPr>
          <a:xfrm flipH="1">
            <a:off x="125315" y="1216660"/>
            <a:ext cx="3375923" cy="34395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7FE2918-4BA3-D040-E81A-CF2ABC691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C2CBEAD-6289-145B-7A49-1EE8848ACF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3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CCC9-98DB-D7BE-A91D-94974BF6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2DD8E8-9F07-A802-5312-9F963217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889"/>
          <a:stretch>
            <a:fillRect/>
          </a:stretch>
        </p:blipFill>
        <p:spPr>
          <a:xfrm flipH="1">
            <a:off x="318782" y="1188720"/>
            <a:ext cx="3375923" cy="34395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F48DAF-4380-41B5-9734-9DC99DE067B0}"/>
              </a:ext>
            </a:extLst>
          </p:cNvPr>
          <p:cNvSpPr txBox="1"/>
          <p:nvPr/>
        </p:nvSpPr>
        <p:spPr>
          <a:xfrm>
            <a:off x="318782" y="180351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작업실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8E1624-4FC4-D293-C0A8-2D1CCEF5129C}"/>
              </a:ext>
            </a:extLst>
          </p:cNvPr>
          <p:cNvGrpSpPr/>
          <p:nvPr/>
        </p:nvGrpSpPr>
        <p:grpSpPr>
          <a:xfrm>
            <a:off x="5189280" y="1761796"/>
            <a:ext cx="3502338" cy="3983813"/>
            <a:chOff x="5189280" y="1761796"/>
            <a:chExt cx="3502338" cy="39838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139DFF0-C9F6-6F71-F5FF-327E3A00F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8976" y="1761796"/>
              <a:ext cx="2272642" cy="372792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1AA7FA-F626-18CF-482F-F548FFEFB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25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89280" y="3472721"/>
              <a:ext cx="2272888" cy="2272888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9BB8B5D0-D1C9-044A-01D9-7D5E3E9893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090" y="787319"/>
            <a:ext cx="5489820" cy="365988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8F24465-BE0B-1CE1-03E7-6E7F4DDFA0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170885C-92A7-5D36-A574-F1932E8332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2659E9C-B8F7-EA5E-5731-2FAA0A0C93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A12B3C9-1CA6-E5D9-43CD-C5635994A5D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2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715E93D-330D-4D6B-BB6B-3CA503878182}"/>
              </a:ext>
            </a:extLst>
          </p:cNvPr>
          <p:cNvSpPr txBox="1"/>
          <p:nvPr/>
        </p:nvSpPr>
        <p:spPr>
          <a:xfrm>
            <a:off x="318782" y="180351"/>
            <a:ext cx="19607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/>
              <a:t>대장간</a:t>
            </a:r>
            <a:r>
              <a:rPr lang="en-US" altLang="ko-KR" dirty="0"/>
              <a:t>(</a:t>
            </a:r>
            <a:r>
              <a:rPr lang="ko-KR" altLang="en-US" dirty="0"/>
              <a:t>의뢰 결과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066337-828D-FFA1-CF55-BFD1A29A7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E4D172-61ED-8EBA-3895-824080785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948" y="5980682"/>
            <a:ext cx="1267578" cy="4653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1A01EF-3977-3791-21A2-133030E73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6D44D5-3462-606C-50E6-2A6EC07E1C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D121B0F-28E3-CE42-0DE1-B581CB5048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0352BAA-4F65-F42D-4927-B831D242BC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0884"/>
          <a:stretch>
            <a:fillRect/>
          </a:stretch>
        </p:blipFill>
        <p:spPr>
          <a:xfrm>
            <a:off x="8136502" y="574040"/>
            <a:ext cx="4180813" cy="40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CD14-AB2C-4084-8771-4F8E6261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BA63750-FEF3-21E3-D45F-F67798F2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889"/>
          <a:stretch>
            <a:fillRect/>
          </a:stretch>
        </p:blipFill>
        <p:spPr>
          <a:xfrm flipH="1">
            <a:off x="318782" y="1188720"/>
            <a:ext cx="3375923" cy="34395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6C9C79-BD22-2141-B8EA-2571261D4B77}"/>
              </a:ext>
            </a:extLst>
          </p:cNvPr>
          <p:cNvSpPr txBox="1"/>
          <p:nvPr/>
        </p:nvSpPr>
        <p:spPr>
          <a:xfrm>
            <a:off x="318782" y="180351"/>
            <a:ext cx="19607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/>
              <a:t>대장간</a:t>
            </a:r>
            <a:r>
              <a:rPr lang="en-US" altLang="ko-KR" dirty="0"/>
              <a:t>(</a:t>
            </a:r>
            <a:r>
              <a:rPr lang="ko-KR" altLang="en-US" dirty="0"/>
              <a:t>의뢰 결과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BBE15E-1EB6-5C7B-5C6F-4771DDCE4F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90" r="2273" b="13045"/>
          <a:stretch>
            <a:fillRect/>
          </a:stretch>
        </p:blipFill>
        <p:spPr>
          <a:xfrm>
            <a:off x="0" y="4166869"/>
            <a:ext cx="12192000" cy="266065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ABB9659-6547-748B-6303-24C65C27C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0884"/>
          <a:stretch>
            <a:fillRect/>
          </a:stretch>
        </p:blipFill>
        <p:spPr>
          <a:xfrm>
            <a:off x="8136502" y="574040"/>
            <a:ext cx="4180813" cy="40541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440618-B5C9-E550-2A17-DBFC01363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948" y="5980682"/>
            <a:ext cx="1267578" cy="4653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43BBCB6-832C-4D82-277E-AC6171C40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315" y="3590488"/>
            <a:ext cx="3012583" cy="12015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8B6816-A4E1-838C-20AB-83E477B8D9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9BA1AEB-F949-0217-E2F4-3C911B001E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57BE10-0C27-CAE8-2950-D890513AC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1090" y="787319"/>
            <a:ext cx="5489820" cy="3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36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B083069-B6B0-4F5F-9D28-6C5EAED66412}"/>
              </a:ext>
            </a:extLst>
          </p:cNvPr>
          <p:cNvSpPr txBox="1"/>
          <p:nvPr/>
        </p:nvSpPr>
        <p:spPr>
          <a:xfrm>
            <a:off x="318782" y="180351"/>
            <a:ext cx="111921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/>
              <a:t>정산 화면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AD4F314-000D-9E9A-6B46-652632B3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31"/>
          <a:stretch>
            <a:fillRect/>
          </a:stretch>
        </p:blipFill>
        <p:spPr>
          <a:xfrm>
            <a:off x="0" y="4003040"/>
            <a:ext cx="12192000" cy="28244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589B4B2-011B-4F32-547A-351379C0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00" t="6822" r="19083" b="70313"/>
          <a:stretch>
            <a:fillRect/>
          </a:stretch>
        </p:blipFill>
        <p:spPr>
          <a:xfrm>
            <a:off x="2586605" y="89467"/>
            <a:ext cx="2550160" cy="5469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C677DFB-90D9-BB35-5B38-619FFB4B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967" t="33157" r="19616" b="43978"/>
          <a:stretch>
            <a:fillRect/>
          </a:stretch>
        </p:blipFill>
        <p:spPr>
          <a:xfrm>
            <a:off x="5957581" y="89467"/>
            <a:ext cx="2550160" cy="54691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FA31B30-F729-DDE8-E501-1ECAE63069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40" t="3748" r="26434" b="8030"/>
          <a:stretch>
            <a:fillRect/>
          </a:stretch>
        </p:blipFill>
        <p:spPr>
          <a:xfrm>
            <a:off x="2390117" y="417352"/>
            <a:ext cx="6416086" cy="602329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6FAA527-6A04-0631-BB5E-9CB160013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286" y="5415280"/>
            <a:ext cx="1769748" cy="64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6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425</Words>
  <Application>Microsoft Office PowerPoint</Application>
  <PresentationFormat>와이드스크린</PresentationFormat>
  <Paragraphs>109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나눔스퀘어 네오 Bold</vt:lpstr>
      <vt:lpstr>나눔스퀘어 네오 ExtraBold</vt:lpstr>
      <vt:lpstr>나눔스퀘어 네오 Heavy</vt:lpstr>
      <vt:lpstr>나눔스퀘어 네오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D08</dc:creator>
  <cp:lastModifiedBy>Park Hyun Uk</cp:lastModifiedBy>
  <cp:revision>46</cp:revision>
  <dcterms:created xsi:type="dcterms:W3CDTF">2026-01-19T06:30:10Z</dcterms:created>
  <dcterms:modified xsi:type="dcterms:W3CDTF">2026-02-11T06:31:09Z</dcterms:modified>
</cp:coreProperties>
</file>